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handoutMasterIdLst>
    <p:handoutMasterId r:id="rId11"/>
  </p:handoutMasterIdLst>
  <p:sldIdLst>
    <p:sldId id="256" r:id="rId2"/>
    <p:sldId id="294" r:id="rId3"/>
    <p:sldId id="295" r:id="rId4"/>
    <p:sldId id="296" r:id="rId5"/>
    <p:sldId id="297" r:id="rId6"/>
    <p:sldId id="300" r:id="rId7"/>
    <p:sldId id="301" r:id="rId8"/>
    <p:sldId id="29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7" autoAdjust="0"/>
    <p:restoredTop sz="94624" autoAdjust="0"/>
  </p:normalViewPr>
  <p:slideViewPr>
    <p:cSldViewPr showGuides="1">
      <p:cViewPr varScale="1">
        <p:scale>
          <a:sx n="87" d="100"/>
          <a:sy n="87" d="100"/>
        </p:scale>
        <p:origin x="427" y="77"/>
      </p:cViewPr>
      <p:guideLst>
        <p:guide orient="horz" pos="2159"/>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t>1/28/2026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t>1/28/2026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567608" y="592088"/>
            <a:ext cx="7609140" cy="100811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t>28-01-2026</a:t>
            </a:fld>
            <a:endParaRPr lang="en-US" dirty="0"/>
          </a:p>
        </p:txBody>
      </p:sp>
      <p:sp>
        <p:nvSpPr>
          <p:cNvPr id="11" name="Footer Placeholder 3"/>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p:cNvSpPr>
            <a:spLocks noGrp="1"/>
          </p:cNvSpPr>
          <p:nvPr>
            <p:ph type="sldNum" sz="quarter" idx="13"/>
          </p:nvPr>
        </p:nvSpPr>
        <p:spPr>
          <a:xfrm>
            <a:off x="10272464" y="6356350"/>
            <a:ext cx="1081336" cy="365125"/>
          </a:xfrm>
        </p:spPr>
        <p:txBody>
          <a:bodyPr/>
          <a:lstStyle/>
          <a:p>
            <a:fld id="{326EF2E3-409D-4D76-AD02-397A36B0DA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t>28-01-2026</a:t>
            </a:fld>
            <a:endParaRPr lang="en-US" dirty="0"/>
          </a:p>
        </p:txBody>
      </p:sp>
      <p:sp>
        <p:nvSpPr>
          <p:cNvPr id="7" name="Footer Placeholder 3"/>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sp>
        <p:nvSpPr>
          <p:cNvPr id="8" name="Slide Number Placeholder 3"/>
          <p:cNvSpPr>
            <a:spLocks noGrp="1"/>
          </p:cNvSpPr>
          <p:nvPr>
            <p:ph type="sldNum" sz="quarter" idx="13"/>
          </p:nvPr>
        </p:nvSpPr>
        <p:spPr>
          <a:xfrm>
            <a:off x="10272464" y="6356350"/>
            <a:ext cx="1081336" cy="365125"/>
          </a:xfrm>
        </p:spPr>
        <p:txBody>
          <a:bodyPr/>
          <a:lstStyle/>
          <a:p>
            <a:fld id="{326EF2E3-409D-4D76-AD02-397A36B0DA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3AD86-BCE5-402A-9A63-AC164DC60237}" type="datetime1">
              <a:rPr lang="en-IN" smtClean="0"/>
              <a:t>28-01-2026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Name                                                                Faculty Name, Designation, Dept.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4F4F09-1D10-D774-06F8-11F44F3923EC}"/>
              </a:ext>
            </a:extLst>
          </p:cNvPr>
          <p:cNvSpPr txBox="1"/>
          <p:nvPr/>
        </p:nvSpPr>
        <p:spPr>
          <a:xfrm>
            <a:off x="3864459" y="4699590"/>
            <a:ext cx="4463081" cy="1969770"/>
          </a:xfrm>
          <a:prstGeom prst="rect">
            <a:avLst/>
          </a:prstGeom>
          <a:noFill/>
        </p:spPr>
        <p:txBody>
          <a:bodyPr wrap="none" rtlCol="0">
            <a:spAutoFit/>
          </a:bodyPr>
          <a:lstStyle/>
          <a:p>
            <a:pPr algn="ctr"/>
            <a:r>
              <a:rPr lang="en-US" sz="2000" b="1" dirty="0">
                <a:latin typeface="Times New Roman" panose="02020603050405020304" pitchFamily="18" charset="0"/>
                <a:cs typeface="Times New Roman" panose="02020603050405020304" pitchFamily="18" charset="0"/>
              </a:rPr>
              <a:t>Project By</a:t>
            </a:r>
          </a:p>
          <a:p>
            <a:pPr>
              <a:lnSpc>
                <a:spcPct val="150000"/>
              </a:lnSpc>
            </a:pPr>
            <a:r>
              <a:rPr lang="en-US" sz="2000" b="1" dirty="0">
                <a:solidFill>
                  <a:srgbClr val="C00000"/>
                </a:solidFill>
                <a:latin typeface="Times New Roman" panose="02020603050405020304" pitchFamily="18" charset="0"/>
                <a:cs typeface="Times New Roman" panose="02020603050405020304" pitchFamily="18" charset="0"/>
              </a:rPr>
              <a:t>Name: </a:t>
            </a:r>
            <a:r>
              <a:rPr lang="en-US" sz="2000" b="1" dirty="0">
                <a:solidFill>
                  <a:srgbClr val="002060"/>
                </a:solidFill>
                <a:latin typeface="Times New Roman" panose="02020603050405020304" pitchFamily="18" charset="0"/>
                <a:cs typeface="Times New Roman" panose="02020603050405020304" pitchFamily="18" charset="0"/>
              </a:rPr>
              <a:t>Bapuji Rao</a:t>
            </a:r>
          </a:p>
          <a:p>
            <a:r>
              <a:rPr lang="en-US" sz="2000" b="1" dirty="0">
                <a:solidFill>
                  <a:srgbClr val="C00000"/>
                </a:solidFill>
                <a:latin typeface="Times New Roman" panose="02020603050405020304" pitchFamily="18" charset="0"/>
                <a:cs typeface="Times New Roman" panose="02020603050405020304" pitchFamily="18" charset="0"/>
              </a:rPr>
              <a:t>Roll Number: </a:t>
            </a:r>
            <a:r>
              <a:rPr lang="en-US" sz="2000" b="1" dirty="0">
                <a:solidFill>
                  <a:srgbClr val="002060"/>
                </a:solidFill>
                <a:latin typeface="Times New Roman" panose="02020603050405020304" pitchFamily="18" charset="0"/>
                <a:cs typeface="Times New Roman" panose="02020603050405020304" pitchFamily="18" charset="0"/>
              </a:rPr>
              <a:t>24M11MC001</a:t>
            </a:r>
          </a:p>
          <a:p>
            <a:endParaRPr lang="en-US" sz="1200" dirty="0">
              <a:solidFill>
                <a:srgbClr val="002060"/>
              </a:solidFill>
              <a:latin typeface="Times New Roman" panose="02020603050405020304" pitchFamily="18" charset="0"/>
              <a:cs typeface="Times New Roman" panose="02020603050405020304" pitchFamily="18" charset="0"/>
            </a:endParaRPr>
          </a:p>
          <a:p>
            <a:r>
              <a:rPr lang="en-US" sz="2000" b="1" dirty="0">
                <a:solidFill>
                  <a:srgbClr val="C00000"/>
                </a:solidFill>
                <a:latin typeface="Times New Roman" panose="02020603050405020304" pitchFamily="18" charset="0"/>
                <a:cs typeface="Times New Roman" panose="02020603050405020304" pitchFamily="18" charset="0"/>
              </a:rPr>
              <a:t>Guide:</a:t>
            </a:r>
            <a:r>
              <a:rPr lang="en-US" sz="2000" b="1" dirty="0">
                <a:solidFill>
                  <a:srgbClr val="002060"/>
                </a:solidFill>
                <a:latin typeface="Times New Roman" panose="02020603050405020304" pitchFamily="18" charset="0"/>
                <a:cs typeface="Times New Roman" panose="02020603050405020304" pitchFamily="18" charset="0"/>
              </a:rPr>
              <a:t> Dr. Bapuji Rao</a:t>
            </a:r>
            <a:r>
              <a:rPr lang="en-US" sz="2000" dirty="0">
                <a:solidFill>
                  <a:srgbClr val="002060"/>
                </a:solidFill>
                <a:latin typeface="Times New Roman" panose="02020603050405020304" pitchFamily="18" charset="0"/>
                <a:cs typeface="Times New Roman" panose="02020603050405020304" pitchFamily="18" charset="0"/>
              </a:rPr>
              <a:t>,</a:t>
            </a:r>
            <a:r>
              <a:rPr lang="en-US" sz="2000" b="1" dirty="0">
                <a:solidFill>
                  <a:srgbClr val="002060"/>
                </a:solidFill>
                <a:latin typeface="Times New Roman" panose="02020603050405020304" pitchFamily="18" charset="0"/>
                <a:cs typeface="Times New Roman" panose="02020603050405020304" pitchFamily="18" charset="0"/>
              </a:rPr>
              <a:t> </a:t>
            </a:r>
            <a:r>
              <a:rPr lang="en-US" sz="1600" b="1" dirty="0">
                <a:solidFill>
                  <a:srgbClr val="002060"/>
                </a:solidFill>
                <a:latin typeface="Times New Roman" panose="02020603050405020304" pitchFamily="18" charset="0"/>
                <a:cs typeface="Times New Roman" panose="02020603050405020304" pitchFamily="18" charset="0"/>
              </a:rPr>
              <a:t>Assistant Professor</a:t>
            </a:r>
            <a:endParaRPr lang="en-US" sz="2000" b="1" dirty="0">
              <a:solidFill>
                <a:srgbClr val="002060"/>
              </a:solidFill>
              <a:latin typeface="Times New Roman" panose="02020603050405020304" pitchFamily="18" charset="0"/>
              <a:cs typeface="Times New Roman" panose="02020603050405020304" pitchFamily="18" charset="0"/>
            </a:endParaRPr>
          </a:p>
          <a:p>
            <a:r>
              <a:rPr lang="en-US" sz="2000" b="1" dirty="0">
                <a:solidFill>
                  <a:srgbClr val="C00000"/>
                </a:solidFill>
                <a:latin typeface="Times New Roman" panose="02020603050405020304" pitchFamily="18" charset="0"/>
                <a:cs typeface="Times New Roman" panose="02020603050405020304" pitchFamily="18" charset="0"/>
              </a:rPr>
              <a:t>Department:</a:t>
            </a:r>
            <a:r>
              <a:rPr lang="en-US" sz="2000" b="1" dirty="0">
                <a:solidFill>
                  <a:srgbClr val="002060"/>
                </a:solidFill>
                <a:latin typeface="Times New Roman" panose="02020603050405020304" pitchFamily="18" charset="0"/>
                <a:cs typeface="Times New Roman" panose="02020603050405020304" pitchFamily="18" charset="0"/>
              </a:rPr>
              <a:t> Computer Applications</a:t>
            </a:r>
            <a:r>
              <a:rPr lang="en-US" sz="2000" dirty="0">
                <a:solidFill>
                  <a:srgbClr val="002060"/>
                </a:solidFill>
                <a:latin typeface="Times New Roman" panose="02020603050405020304" pitchFamily="18" charset="0"/>
                <a:cs typeface="Times New Roman" panose="02020603050405020304" pitchFamily="18" charset="0"/>
              </a:rPr>
              <a:t> </a:t>
            </a:r>
            <a:endParaRPr lang="en-IN" sz="2000" dirty="0">
              <a:solidFill>
                <a:srgbClr val="00206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52C7D46-18E3-F636-73EF-B1846376024B}"/>
              </a:ext>
            </a:extLst>
          </p:cNvPr>
          <p:cNvSpPr txBox="1"/>
          <p:nvPr/>
        </p:nvSpPr>
        <p:spPr>
          <a:xfrm>
            <a:off x="659396" y="2060848"/>
            <a:ext cx="10873208" cy="1015663"/>
          </a:xfrm>
          <a:prstGeom prst="rect">
            <a:avLst/>
          </a:prstGeom>
          <a:noFill/>
        </p:spPr>
        <p:txBody>
          <a:bodyPr wrap="square" rtlCol="0">
            <a:spAutoFit/>
          </a:bodyPr>
          <a:lstStyle/>
          <a:p>
            <a:pPr algn="ctr"/>
            <a:r>
              <a:rPr lang="en-IN" sz="3000" b="1" dirty="0">
                <a:solidFill>
                  <a:srgbClr val="002060"/>
                </a:solidFill>
                <a:latin typeface="Times New Roman" panose="02020603050405020304" pitchFamily="18" charset="0"/>
                <a:cs typeface="Times New Roman" panose="02020603050405020304" pitchFamily="18" charset="0"/>
              </a:rPr>
              <a:t>A Deep Learning–Based Automatic Number Plate Recognition System for Moving Vehicles Using YOLOv8 and OCR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A56B8-7052-D8D6-4A93-57670528F7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069F3F-48AC-FB20-4944-30F72A6D61E7}"/>
              </a:ext>
            </a:extLst>
          </p:cNvPr>
          <p:cNvSpPr txBox="1"/>
          <p:nvPr/>
        </p:nvSpPr>
        <p:spPr>
          <a:xfrm>
            <a:off x="4426938" y="332656"/>
            <a:ext cx="4881466"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PROBLEM STATEMENT</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7BB2A98-C056-F35C-D266-7BF23C7469E4}"/>
              </a:ext>
            </a:extLst>
          </p:cNvPr>
          <p:cNvSpPr txBox="1"/>
          <p:nvPr/>
        </p:nvSpPr>
        <p:spPr>
          <a:xfrm>
            <a:off x="983432" y="1556792"/>
            <a:ext cx="10225136" cy="3730317"/>
          </a:xfrm>
          <a:prstGeom prst="rect">
            <a:avLst/>
          </a:prstGeom>
          <a:noFill/>
        </p:spPr>
        <p:txBody>
          <a:bodyPr wrap="square" rtlCol="0">
            <a:spAutoFit/>
          </a:bodyPr>
          <a:lstStyle/>
          <a:p>
            <a:pPr algn="just">
              <a:lnSpc>
                <a:spcPct val="150000"/>
              </a:lnSpc>
            </a:pPr>
            <a:r>
              <a:rPr lang="en-IN" sz="2000" dirty="0">
                <a:solidFill>
                  <a:srgbClr val="002060"/>
                </a:solidFill>
                <a:latin typeface="Times New Roman" panose="02020603050405020304" pitchFamily="18" charset="0"/>
                <a:cs typeface="Times New Roman" panose="02020603050405020304" pitchFamily="18" charset="0"/>
              </a:rPr>
              <a:t>Conventional ANPR methods based on handcrafted features and rule-based OCR techniques often fail to deliver consistent performance under dynamic traffic conditions. Although deep learning approaches have improved accuracy, many existing solutions struggle to balance recognition reliability with real-time processing requirements. Hence, there is a need for an advanced ANPR system that can accurately detect vehicles, localize license plates, and recognize characters from video streams while operating efficiently in real-time. This project addresses this challenge by developing a deep learning–based ANPR framework that overcomes the limitations of traditional approaches and supports practical deployment in intelligent transportation systems.</a:t>
            </a:r>
          </a:p>
        </p:txBody>
      </p:sp>
    </p:spTree>
    <p:extLst>
      <p:ext uri="{BB962C8B-B14F-4D97-AF65-F5344CB8AC3E}">
        <p14:creationId xmlns:p14="http://schemas.microsoft.com/office/powerpoint/2010/main" val="1991635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0E794-D67C-31E4-5A4F-0CA6412318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48A85A-9B67-F459-8F32-DEF170F37056}"/>
              </a:ext>
            </a:extLst>
          </p:cNvPr>
          <p:cNvSpPr txBox="1"/>
          <p:nvPr/>
        </p:nvSpPr>
        <p:spPr>
          <a:xfrm>
            <a:off x="5474501" y="332656"/>
            <a:ext cx="2786340"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OBJECTIVES</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BFD2BD4-9D9B-BDD5-0985-EA9AAC9FEE81}"/>
              </a:ext>
            </a:extLst>
          </p:cNvPr>
          <p:cNvSpPr txBox="1"/>
          <p:nvPr/>
        </p:nvSpPr>
        <p:spPr>
          <a:xfrm>
            <a:off x="839417" y="1301087"/>
            <a:ext cx="10729192" cy="4864217"/>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IN" sz="1900" dirty="0">
                <a:solidFill>
                  <a:srgbClr val="002060"/>
                </a:solidFill>
                <a:latin typeface="Times New Roman" panose="02020603050405020304" pitchFamily="18" charset="0"/>
                <a:cs typeface="Times New Roman" panose="02020603050405020304" pitchFamily="18" charset="0"/>
              </a:rPr>
              <a:t>To design a deep learning–based vehicle detection mechanism capable of identifying moving vehicles accurately from video streams.</a:t>
            </a:r>
          </a:p>
          <a:p>
            <a:pPr marL="342900" lvl="0" indent="-342900" algn="just">
              <a:lnSpc>
                <a:spcPct val="150000"/>
              </a:lnSpc>
              <a:buFont typeface="Wingdings" panose="05000000000000000000" pitchFamily="2" charset="2"/>
              <a:buChar char="§"/>
            </a:pPr>
            <a:r>
              <a:rPr lang="en-IN" sz="1900" dirty="0">
                <a:solidFill>
                  <a:srgbClr val="002060"/>
                </a:solidFill>
                <a:latin typeface="Times New Roman" panose="02020603050405020304" pitchFamily="18" charset="0"/>
                <a:cs typeface="Times New Roman" panose="02020603050405020304" pitchFamily="18" charset="0"/>
              </a:rPr>
              <a:t>To implement an effective license plate localization method that extracts plate regions under varying environmental conditions.</a:t>
            </a:r>
          </a:p>
          <a:p>
            <a:pPr marL="342900" lvl="0" indent="-342900" algn="just">
              <a:lnSpc>
                <a:spcPct val="150000"/>
              </a:lnSpc>
              <a:buFont typeface="Wingdings" panose="05000000000000000000" pitchFamily="2" charset="2"/>
              <a:buChar char="§"/>
            </a:pPr>
            <a:r>
              <a:rPr lang="en-IN" sz="1900" dirty="0">
                <a:solidFill>
                  <a:srgbClr val="002060"/>
                </a:solidFill>
                <a:latin typeface="Times New Roman" panose="02020603050405020304" pitchFamily="18" charset="0"/>
                <a:cs typeface="Times New Roman" panose="02020603050405020304" pitchFamily="18" charset="0"/>
              </a:rPr>
              <a:t>To develop a robust OCR module for accurate recognition of alphanumeric characters from license plates.</a:t>
            </a:r>
          </a:p>
          <a:p>
            <a:pPr marL="342900" lvl="0" indent="-342900" algn="just">
              <a:lnSpc>
                <a:spcPct val="150000"/>
              </a:lnSpc>
              <a:buFont typeface="Wingdings" panose="05000000000000000000" pitchFamily="2" charset="2"/>
              <a:buChar char="§"/>
            </a:pPr>
            <a:r>
              <a:rPr lang="en-IN" sz="1900" dirty="0">
                <a:solidFill>
                  <a:srgbClr val="002060"/>
                </a:solidFill>
                <a:latin typeface="Times New Roman" panose="02020603050405020304" pitchFamily="18" charset="0"/>
                <a:cs typeface="Times New Roman" panose="02020603050405020304" pitchFamily="18" charset="0"/>
              </a:rPr>
              <a:t>To improve recognition accuracy through preprocessing, validation, and noise reduction techniques.</a:t>
            </a:r>
          </a:p>
          <a:p>
            <a:pPr marL="342900" lvl="0" indent="-342900" algn="just">
              <a:lnSpc>
                <a:spcPct val="150000"/>
              </a:lnSpc>
              <a:buFont typeface="Wingdings" panose="05000000000000000000" pitchFamily="2" charset="2"/>
              <a:buChar char="§"/>
            </a:pPr>
            <a:r>
              <a:rPr lang="en-IN" sz="1900" dirty="0">
                <a:solidFill>
                  <a:srgbClr val="002060"/>
                </a:solidFill>
                <a:latin typeface="Times New Roman" panose="02020603050405020304" pitchFamily="18" charset="0"/>
                <a:cs typeface="Times New Roman" panose="02020603050405020304" pitchFamily="18" charset="0"/>
              </a:rPr>
              <a:t>To evaluate system performance using standard metrics such as precision, recall, </a:t>
            </a:r>
            <a:r>
              <a:rPr lang="en-IN" sz="1900" dirty="0" err="1">
                <a:solidFill>
                  <a:srgbClr val="002060"/>
                </a:solidFill>
                <a:latin typeface="Times New Roman" panose="02020603050405020304" pitchFamily="18" charset="0"/>
                <a:cs typeface="Times New Roman" panose="02020603050405020304" pitchFamily="18" charset="0"/>
              </a:rPr>
              <a:t>mAP</a:t>
            </a:r>
            <a:r>
              <a:rPr lang="en-IN" sz="1900" dirty="0">
                <a:solidFill>
                  <a:srgbClr val="002060"/>
                </a:solidFill>
                <a:latin typeface="Times New Roman" panose="02020603050405020304" pitchFamily="18" charset="0"/>
                <a:cs typeface="Times New Roman" panose="02020603050405020304" pitchFamily="18" charset="0"/>
              </a:rPr>
              <a:t>, and recognition accuracy.</a:t>
            </a:r>
          </a:p>
          <a:p>
            <a:pPr marL="342900" lvl="0" indent="-342900" algn="just">
              <a:lnSpc>
                <a:spcPct val="150000"/>
              </a:lnSpc>
              <a:buFont typeface="Wingdings" panose="05000000000000000000" pitchFamily="2" charset="2"/>
              <a:buChar char="§"/>
            </a:pPr>
            <a:r>
              <a:rPr lang="en-IN" sz="1900" dirty="0">
                <a:solidFill>
                  <a:srgbClr val="002060"/>
                </a:solidFill>
                <a:latin typeface="Times New Roman" panose="02020603050405020304" pitchFamily="18" charset="0"/>
                <a:cs typeface="Times New Roman" panose="02020603050405020304" pitchFamily="18" charset="0"/>
              </a:rPr>
              <a:t>To create a modular and scalable architecture that supports database storage and web-based visualization.</a:t>
            </a:r>
          </a:p>
          <a:p>
            <a:pPr marL="342900" lvl="0" indent="-342900" algn="just">
              <a:lnSpc>
                <a:spcPct val="150000"/>
              </a:lnSpc>
              <a:buFont typeface="Wingdings" panose="05000000000000000000" pitchFamily="2" charset="2"/>
              <a:buChar char="§"/>
            </a:pPr>
            <a:r>
              <a:rPr lang="en-IN" sz="1900" dirty="0">
                <a:solidFill>
                  <a:srgbClr val="002060"/>
                </a:solidFill>
                <a:latin typeface="Times New Roman" panose="02020603050405020304" pitchFamily="18" charset="0"/>
                <a:cs typeface="Times New Roman" panose="02020603050405020304" pitchFamily="18" charset="0"/>
              </a:rPr>
              <a:t>To ensure that the system operates efficiently in real-time, making it suitable for real-world applications.</a:t>
            </a:r>
          </a:p>
        </p:txBody>
      </p:sp>
    </p:spTree>
    <p:extLst>
      <p:ext uri="{BB962C8B-B14F-4D97-AF65-F5344CB8AC3E}">
        <p14:creationId xmlns:p14="http://schemas.microsoft.com/office/powerpoint/2010/main" val="4019475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B5292-11DC-782A-0D1F-A8267F4A27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40D80E-95EB-B87A-8D5E-38F7DB24E9B0}"/>
              </a:ext>
            </a:extLst>
          </p:cNvPr>
          <p:cNvSpPr txBox="1"/>
          <p:nvPr/>
        </p:nvSpPr>
        <p:spPr>
          <a:xfrm>
            <a:off x="5076156" y="332656"/>
            <a:ext cx="3583033"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METHODOLOGY</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1463711-2258-E16A-20CC-1A78865E6895}"/>
              </a:ext>
            </a:extLst>
          </p:cNvPr>
          <p:cNvSpPr txBox="1"/>
          <p:nvPr/>
        </p:nvSpPr>
        <p:spPr>
          <a:xfrm>
            <a:off x="4865873" y="1988840"/>
            <a:ext cx="4003597" cy="2345322"/>
          </a:xfrm>
          <a:prstGeom prst="rect">
            <a:avLst/>
          </a:prstGeom>
          <a:noFill/>
        </p:spPr>
        <p:txBody>
          <a:bodyPr wrap="none" rtlCol="0">
            <a:spAutoFit/>
          </a:bodyPr>
          <a:lstStyle/>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Overall System Architecture</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Vehicle Detection Using YOLOv8</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License Plate Detection</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OCR and Text Recognition</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Data Flow and Process Design</a:t>
            </a:r>
          </a:p>
        </p:txBody>
      </p:sp>
    </p:spTree>
    <p:extLst>
      <p:ext uri="{BB962C8B-B14F-4D97-AF65-F5344CB8AC3E}">
        <p14:creationId xmlns:p14="http://schemas.microsoft.com/office/powerpoint/2010/main" val="4170814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AD672-A746-0C5E-7E71-8E9C434B92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347093-5B6B-5D51-C38D-005319681E4B}"/>
              </a:ext>
            </a:extLst>
          </p:cNvPr>
          <p:cNvSpPr txBox="1"/>
          <p:nvPr/>
        </p:nvSpPr>
        <p:spPr>
          <a:xfrm>
            <a:off x="4200538" y="332656"/>
            <a:ext cx="5925020"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IMPLEMENTATION DETAILS</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30A4C2-EEB3-47C4-FB58-76E875DDC3F8}"/>
              </a:ext>
            </a:extLst>
          </p:cNvPr>
          <p:cNvSpPr txBox="1"/>
          <p:nvPr/>
        </p:nvSpPr>
        <p:spPr>
          <a:xfrm>
            <a:off x="4660852" y="2060848"/>
            <a:ext cx="4819524" cy="2345322"/>
          </a:xfrm>
          <a:prstGeom prst="rect">
            <a:avLst/>
          </a:prstGeom>
          <a:noFill/>
        </p:spPr>
        <p:txBody>
          <a:bodyPr wrap="none" rtlCol="0">
            <a:spAutoFit/>
          </a:bodyPr>
          <a:lstStyle/>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Software and Hardware Requirements</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Dataset Description</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Model Training and Configuration</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Web Application and Database Integration</a:t>
            </a:r>
          </a:p>
          <a:p>
            <a:pPr marL="28575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Docker-Based Deployment</a:t>
            </a:r>
            <a:endParaRPr lang="en-I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3028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C21DE-FD39-C288-6813-096F277C6A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EDA9F5-4020-AD3C-25B3-18E773F0FE98}"/>
              </a:ext>
            </a:extLst>
          </p:cNvPr>
          <p:cNvSpPr txBox="1"/>
          <p:nvPr/>
        </p:nvSpPr>
        <p:spPr>
          <a:xfrm>
            <a:off x="4357213" y="332656"/>
            <a:ext cx="5020926"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EXPECTED  OUTCOMES</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15B1D32-3235-7681-C13F-BA48DC673DB9}"/>
              </a:ext>
            </a:extLst>
          </p:cNvPr>
          <p:cNvSpPr txBox="1"/>
          <p:nvPr/>
        </p:nvSpPr>
        <p:spPr>
          <a:xfrm>
            <a:off x="4782618" y="2132856"/>
            <a:ext cx="4170116" cy="1883657"/>
          </a:xfrm>
          <a:prstGeom prst="rect">
            <a:avLst/>
          </a:prstGeom>
          <a:noFill/>
        </p:spPr>
        <p:txBody>
          <a:bodyPr wrap="none" rtlCol="0">
            <a:spAutoFit/>
          </a:bodyPr>
          <a:lstStyle/>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Detection and Recognition Results</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Precision–Recall and </a:t>
            </a:r>
            <a:r>
              <a:rPr lang="en-IN" sz="2000" dirty="0" err="1">
                <a:solidFill>
                  <a:srgbClr val="002060"/>
                </a:solidFill>
                <a:latin typeface="Times New Roman" panose="02020603050405020304" pitchFamily="18" charset="0"/>
                <a:cs typeface="Times New Roman" panose="02020603050405020304" pitchFamily="18" charset="0"/>
              </a:rPr>
              <a:t>mAP</a:t>
            </a:r>
            <a:r>
              <a:rPr lang="en-IN" sz="2000" dirty="0">
                <a:solidFill>
                  <a:srgbClr val="002060"/>
                </a:solidFill>
                <a:latin typeface="Times New Roman" panose="02020603050405020304" pitchFamily="18" charset="0"/>
                <a:cs typeface="Times New Roman" panose="02020603050405020304" pitchFamily="18" charset="0"/>
              </a:rPr>
              <a:t> Analysis</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Confusion Matrix Analysis</a:t>
            </a:r>
          </a:p>
          <a:p>
            <a:pPr marL="285750" lvl="0" indent="-285750">
              <a:lnSpc>
                <a:spcPct val="150000"/>
              </a:lnSpc>
              <a:buFont typeface="Wingdings" panose="05000000000000000000" pitchFamily="2" charset="2"/>
              <a:buChar char="§"/>
            </a:pPr>
            <a:r>
              <a:rPr lang="en-IN" sz="2000" dirty="0">
                <a:solidFill>
                  <a:srgbClr val="002060"/>
                </a:solidFill>
                <a:latin typeface="Times New Roman" panose="02020603050405020304" pitchFamily="18" charset="0"/>
                <a:cs typeface="Times New Roman" panose="02020603050405020304" pitchFamily="18" charset="0"/>
              </a:rPr>
              <a:t>Comparative Study</a:t>
            </a:r>
          </a:p>
        </p:txBody>
      </p:sp>
    </p:spTree>
    <p:extLst>
      <p:ext uri="{BB962C8B-B14F-4D97-AF65-F5344CB8AC3E}">
        <p14:creationId xmlns:p14="http://schemas.microsoft.com/office/powerpoint/2010/main" val="4183160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EBF6-3490-2956-D58E-DB3092FDB4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2C06B4-E7DF-2D05-2AAB-BE25EEC3769D}"/>
              </a:ext>
            </a:extLst>
          </p:cNvPr>
          <p:cNvSpPr txBox="1"/>
          <p:nvPr/>
        </p:nvSpPr>
        <p:spPr>
          <a:xfrm>
            <a:off x="5383938" y="332656"/>
            <a:ext cx="2967479"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CONCLUSION</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12526DC-915B-19BC-1B4D-91EC914BF882}"/>
              </a:ext>
            </a:extLst>
          </p:cNvPr>
          <p:cNvSpPr txBox="1"/>
          <p:nvPr/>
        </p:nvSpPr>
        <p:spPr>
          <a:xfrm>
            <a:off x="1019436" y="2157818"/>
            <a:ext cx="10153128" cy="3109890"/>
          </a:xfrm>
          <a:prstGeom prst="rect">
            <a:avLst/>
          </a:prstGeom>
          <a:noFill/>
        </p:spPr>
        <p:txBody>
          <a:bodyPr wrap="square" rtlCol="0">
            <a:spAutoFit/>
          </a:bodyPr>
          <a:lstStyle/>
          <a:p>
            <a:pPr algn="just">
              <a:lnSpc>
                <a:spcPct val="150000"/>
              </a:lnSpc>
            </a:pPr>
            <a:r>
              <a:rPr lang="en-IN" sz="1900" dirty="0">
                <a:solidFill>
                  <a:srgbClr val="002060"/>
                </a:solidFill>
                <a:latin typeface="Times New Roman" panose="02020603050405020304" pitchFamily="18" charset="0"/>
                <a:cs typeface="Times New Roman" panose="02020603050405020304" pitchFamily="18" charset="0"/>
              </a:rPr>
              <a:t>This project will present a deep learning–based automatic number plate recognition system capable of accurately detecting and recognizing license plates from moving vehicles in real-time. By leveraging YOLOv8 for object detection and a deep learning–based OCR module, the system effectively addresses the limitations of traditional ANPR approaches. Experimental results will demonstrate improved accuracy, robustness, and processing speed across various traffic conditions. The modular design and scalability of the framework will make it suitable for integration into intelligent transportation and surveillance systems.</a:t>
            </a:r>
          </a:p>
        </p:txBody>
      </p:sp>
    </p:spTree>
    <p:extLst>
      <p:ext uri="{BB962C8B-B14F-4D97-AF65-F5344CB8AC3E}">
        <p14:creationId xmlns:p14="http://schemas.microsoft.com/office/powerpoint/2010/main" val="500042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EC7AE-98CF-1255-2032-0910306557D5}"/>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777EB315-DA27-C088-88B7-53495D762527}"/>
              </a:ext>
            </a:extLst>
          </p:cNvPr>
          <p:cNvSpPr txBox="1"/>
          <p:nvPr/>
        </p:nvSpPr>
        <p:spPr>
          <a:xfrm>
            <a:off x="1523651" y="2570476"/>
            <a:ext cx="9215502" cy="1363592"/>
          </a:xfrm>
          <a:prstGeom prst="rect">
            <a:avLst/>
          </a:prstGeom>
        </p:spPr>
        <p:txBody>
          <a:bodyPr vert="horz" lIns="91440" tIns="45720" rIns="91440" bIns="45720" rtlCol="0" anchor="ctr">
            <a:noAutofit/>
          </a:bodyPr>
          <a:lstStyle/>
          <a:p>
            <a:pPr marL="514350" indent="-514350" algn="ctr" defTabSz="914400">
              <a:spcBef>
                <a:spcPct val="0"/>
              </a:spcBef>
              <a:defRPr/>
            </a:pPr>
            <a:r>
              <a:rPr lang="en-US" sz="7200" b="1" spc="-50" dirty="0">
                <a:solidFill>
                  <a:srgbClr val="002060"/>
                </a:solidFill>
                <a:latin typeface="Lucida Bright" panose="02040602050505020304" pitchFamily="18" charset="0"/>
              </a:rPr>
              <a:t>Thank You</a:t>
            </a:r>
          </a:p>
        </p:txBody>
      </p:sp>
    </p:spTree>
    <p:extLst>
      <p:ext uri="{BB962C8B-B14F-4D97-AF65-F5344CB8AC3E}">
        <p14:creationId xmlns:p14="http://schemas.microsoft.com/office/powerpoint/2010/main" val="41268583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457200" indent="-457200">
          <a:lnSpc>
            <a:spcPct val="150000"/>
          </a:lnSpc>
          <a:buFont typeface="Wingdings" panose="05000000000000000000" charset="0"/>
          <a:buChar char="§"/>
          <a:defRPr lang="en-US" sz="2800">
            <a:solidFill>
              <a:srgbClr val="C00000"/>
            </a:solidFill>
            <a:latin typeface="Arial Black" panose="020B0A04020102020204" pitchFamily="34" charset="0"/>
            <a:cs typeface="Arial Black" panose="020B0A040201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9582</TotalTime>
  <Words>419</Words>
  <Application>Microsoft Office PowerPoint</Application>
  <PresentationFormat>Widescreen</PresentationFormat>
  <Paragraphs>38</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Lucida Bright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Bapuji Rao</cp:lastModifiedBy>
  <cp:revision>822</cp:revision>
  <cp:lastPrinted>2023-06-09T04:58:00Z</cp:lastPrinted>
  <dcterms:created xsi:type="dcterms:W3CDTF">2019-12-14T03:50:00Z</dcterms:created>
  <dcterms:modified xsi:type="dcterms:W3CDTF">2026-01-28T05:58:38Z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E946D631C81546B1AAF88EB766F28115_12</vt:lpwstr>
  </property>
  <property fmtid="{D5CDD505-2E9C-101B-9397-08002B2CF9AE}" pid="3" name="KSOProductBuildVer">
    <vt:lpwstr>1033-12.2.0.21931</vt:lpwstr>
  </property>
</Properties>
</file>